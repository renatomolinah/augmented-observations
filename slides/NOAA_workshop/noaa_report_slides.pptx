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9"/>
  </p:notesMasterIdLst>
  <p:sldIdLst>
    <p:sldId id="256" r:id="rId2"/>
    <p:sldId id="274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76" r:id="rId12"/>
    <p:sldId id="267" r:id="rId13"/>
    <p:sldId id="268" r:id="rId14"/>
    <p:sldId id="270" r:id="rId15"/>
    <p:sldId id="271" r:id="rId16"/>
    <p:sldId id="275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68"/>
    <p:restoredTop sz="94658"/>
  </p:normalViewPr>
  <p:slideViewPr>
    <p:cSldViewPr snapToGrid="0" snapToObjects="1">
      <p:cViewPr varScale="1">
        <p:scale>
          <a:sx n="104" d="100"/>
          <a:sy n="104" d="100"/>
        </p:scale>
        <p:origin x="216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96C76B-CCE6-2D45-BC0B-66408C14B8B6}" type="datetimeFigureOut">
              <a:rPr lang="en-US" smtClean="0"/>
              <a:t>3/12/26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C952E6-34AA-E54A-A0A2-3FED39D981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445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0D01A-E405-A747-B6BA-8B9EF24298C8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0FB6-72B0-5440-98F5-CBEFE5B603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276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0D01A-E405-A747-B6BA-8B9EF24298C8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0FB6-72B0-5440-98F5-CBEFE5B603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458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0D01A-E405-A747-B6BA-8B9EF24298C8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0FB6-72B0-5440-98F5-CBEFE5B603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954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0D01A-E405-A747-B6BA-8B9EF24298C8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0FB6-72B0-5440-98F5-CBEFE5B603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817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0D01A-E405-A747-B6BA-8B9EF24298C8}" type="datetimeFigureOut">
              <a:rPr lang="en-US" smtClean="0"/>
              <a:t>3/12/26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0FB6-72B0-5440-98F5-CBEFE5B603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801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0D01A-E405-A747-B6BA-8B9EF24298C8}" type="datetimeFigureOut">
              <a:rPr lang="en-US" smtClean="0"/>
              <a:t>3/12/26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0FB6-72B0-5440-98F5-CBEFE5B603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183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0D01A-E405-A747-B6BA-8B9EF24298C8}" type="datetimeFigureOut">
              <a:rPr lang="en-US" smtClean="0"/>
              <a:t>3/12/26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0FB6-72B0-5440-98F5-CBEFE5B603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744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0D01A-E405-A747-B6BA-8B9EF24298C8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0FB6-72B0-5440-98F5-CBEFE5B603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261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0D01A-E405-A747-B6BA-8B9EF24298C8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0FB6-72B0-5440-98F5-CBEFE5B603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029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0D01A-E405-A747-B6BA-8B9EF24298C8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0FB6-72B0-5440-98F5-CBEFE5B603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656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0D01A-E405-A747-B6BA-8B9EF24298C8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0FB6-72B0-5440-98F5-CBEFE5B603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310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F0D01A-E405-A747-B6BA-8B9EF24298C8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C20FB6-72B0-5440-98F5-CBEFE5B603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412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84410"/>
            <a:ext cx="7772400" cy="2387600"/>
          </a:xfrm>
        </p:spPr>
        <p:txBody>
          <a:bodyPr>
            <a:normAutofit/>
          </a:bodyPr>
          <a:lstStyle/>
          <a:p>
            <a:r>
              <a:rPr sz="4800" dirty="0"/>
              <a:t>The Socio-Economic Benefits of Augmented Observations</a:t>
            </a:r>
          </a:p>
          <a:p>
            <a:r>
              <a:rPr sz="4800" dirty="0"/>
              <a:t>for Hurricane Forecasting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3200" dirty="0"/>
              <a:t>Diego Cardoso, Brian McNoldy, </a:t>
            </a:r>
            <a:br>
              <a:rPr lang="en-US" sz="3200" dirty="0"/>
            </a:br>
            <a:r>
              <a:rPr sz="3200" dirty="0"/>
              <a:t>Renato Molina</a:t>
            </a:r>
            <a:r>
              <a:rPr lang="en-US" sz="3200" dirty="0"/>
              <a:t>* and </a:t>
            </a:r>
            <a:r>
              <a:rPr sz="3200" dirty="0"/>
              <a:t>Ivan Rudik</a:t>
            </a:r>
            <a:endParaRPr lang="en-US" sz="3200" dirty="0"/>
          </a:p>
          <a:p>
            <a:endParaRPr lang="en-US" dirty="0"/>
          </a:p>
          <a:p>
            <a:r>
              <a:rPr lang="en-US" i="1" dirty="0"/>
              <a:t>Grant: NA23OAR4590366-T1-01</a:t>
            </a:r>
            <a:endParaRPr i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D841D-A3E2-4FA0-EF5C-B0F6A6409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A2D0C-53F0-4F1F-BD54-D75DE14EC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F79BA-8C0D-F785-180D-BCDF0F3F04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50374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Three-Stage </a:t>
            </a:r>
            <a:r>
              <a:rPr lang="en-US" dirty="0"/>
              <a:t>Approach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dirty="0"/>
              <a:t>Stage 1: Estimate the marginal cost of forecast errors</a:t>
            </a:r>
            <a:endParaRPr lang="en-US" dirty="0"/>
          </a:p>
          <a:p>
            <a:endParaRPr dirty="0"/>
          </a:p>
          <a:p>
            <a:r>
              <a:rPr dirty="0"/>
              <a:t>Stage 2: Quantify the contribution of AO to forecast precision</a:t>
            </a:r>
          </a:p>
          <a:p>
            <a:endParaRPr lang="en-US" dirty="0"/>
          </a:p>
          <a:p>
            <a:r>
              <a:rPr dirty="0"/>
              <a:t>Stage 3: Project the economic value</a:t>
            </a:r>
            <a:r>
              <a:rPr lang="en-US" dirty="0"/>
              <a:t> as counterfactual with/without AO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Stage 1: Marginal Cost of Forecast Errors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endParaRPr lang="en-US" dirty="0"/>
              </a:p>
              <a:p>
                <a:r>
                  <a:rPr dirty="0"/>
                  <a:t>Regress total ex-post costs on squared demeaned wind speed forecast error</a:t>
                </a:r>
                <a:r>
                  <a:rPr lang="en-US" dirty="0"/>
                  <a:t>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i="1" smtClean="0"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β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w</m:t>
                          </m:r>
                        </m:sup>
                      </m:sSup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i="1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400" i="1"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i="1"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400" i="1"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β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p</m:t>
                          </m:r>
                        </m:sup>
                      </m:sSup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i="1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400" i="1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i="1"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400" i="1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400" b="0" i="1" smtClean="0"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’(</m:t>
                      </m:r>
                      <m:r>
                        <m:rPr>
                          <m:sty m:val="p"/>
                        </m:rPr>
                        <a:rPr lang="en-US" sz="2400" b="0" i="1" smtClean="0">
                          <a:latin typeface="Cambria Math" panose="02040503050406030204" pitchFamily="18" charset="0"/>
                        </a:rPr>
                        <m:t>w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400" b="0" i="1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)+</m:t>
                      </m:r>
                      <m:r>
                        <m:rPr>
                          <m:sty m:val="p"/>
                        </m:rPr>
                        <a:rPr lang="en-US" sz="2400" b="0" i="1" smtClean="0"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’</m:t>
                      </m:r>
                      <m:r>
                        <m:rPr>
                          <m:sty m:val="p"/>
                        </m:rPr>
                        <a:rPr lang="en-US" sz="2400" b="0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400" b="0" i="1" smtClean="0">
                          <a:latin typeface="Cambria Math" panose="02040503050406030204" pitchFamily="18" charset="0"/>
                        </a:rPr>
                        <m:t>ϵ</m:t>
                      </m:r>
                    </m:oMath>
                  </m:oMathPara>
                </a14:m>
                <a:endParaRPr dirty="0"/>
              </a:p>
              <a:p>
                <a:endParaRPr lang="en-US" dirty="0"/>
              </a:p>
              <a:p>
                <a:r>
                  <a:rPr dirty="0"/>
                  <a:t>Coefficient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x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r>
                  <a:rPr dirty="0"/>
                  <a:t>measures </a:t>
                </a:r>
                <a:r>
                  <a:rPr lang="en-US" dirty="0"/>
                  <a:t>the cost of forecast errors</a:t>
                </a:r>
              </a:p>
              <a:p>
                <a:endParaRPr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en-US" dirty="0"/>
                  <a:t> index for wind and precipitation 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/>
                  <a:t> are temporal and spatial </a:t>
                </a:r>
                <a:r>
                  <a:rPr dirty="0"/>
                  <a:t>fixed effects</a:t>
                </a:r>
                <a:r>
                  <a:rPr lang="en-US" dirty="0"/>
                  <a:t> 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86" r="-804" b="-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2: AO and Forecast Precision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endParaRPr lang="en-US" dirty="0"/>
              </a:p>
              <a:p>
                <a:r>
                  <a:rPr dirty="0"/>
                  <a:t>Use data denial experiments to isolate AO contribution</a:t>
                </a:r>
                <a:endParaRPr lang="en-US" dirty="0"/>
              </a:p>
              <a:p>
                <a:endParaRPr dirty="0"/>
              </a:p>
              <a:p>
                <a:r>
                  <a:rPr dirty="0"/>
                  <a:t>Compare forecast </a:t>
                </a:r>
                <a:r>
                  <a:rPr lang="en-US" dirty="0"/>
                  <a:t>ex-ante spread,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dirty="0"/>
                  <a:t>, with and without dropsondes</a:t>
                </a:r>
                <a:endParaRPr dirty="0"/>
              </a:p>
              <a:p>
                <a:endParaRPr lang="en-US" dirty="0"/>
              </a:p>
              <a:p>
                <a:r>
                  <a:rPr dirty="0"/>
                  <a:t>Estimate </a:t>
                </a:r>
                <a:r>
                  <a:rPr lang="en-US" dirty="0"/>
                  <a:t>overall difference accounting for lead times and intensity</a:t>
                </a:r>
                <a:endParaRPr dirty="0"/>
              </a:p>
              <a:p>
                <a:endParaRPr lang="en-US" dirty="0"/>
              </a:p>
              <a:p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3: Projecting Economic Gains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en-US" dirty="0"/>
                  <a:t>From Molina &amp; Rudik (2026), we know that the ex-ante </a:t>
                </a:r>
                <a:r>
                  <a:rPr dirty="0"/>
                  <a:t>social </a:t>
                </a:r>
                <a:r>
                  <a:rPr lang="en-US" dirty="0"/>
                  <a:t>value of improving the forecast is given by: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VOI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2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×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β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w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dirty="0"/>
                  <a:t>Integrate over the precision improvement to get total value</a:t>
                </a:r>
                <a:r>
                  <a:rPr lang="en-US" dirty="0"/>
                  <a:t>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AO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β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w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× 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Δ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dirty="0"/>
              </a:p>
              <a:p>
                <a:endParaRPr dirty="0"/>
              </a:p>
              <a:p>
                <a:r>
                  <a:rPr lang="en-US" dirty="0"/>
                  <a:t>Note that the v</a:t>
                </a:r>
                <a:r>
                  <a:rPr dirty="0"/>
                  <a:t>alue scales with baseline uncertainty</a:t>
                </a:r>
                <a:r>
                  <a:rPr lang="en-US" dirty="0"/>
                  <a:t>, so the </a:t>
                </a:r>
                <a:r>
                  <a:rPr dirty="0"/>
                  <a:t> largest gains in the </a:t>
                </a:r>
                <a:r>
                  <a:rPr lang="en-US" dirty="0"/>
                  <a:t>strong/uncertain/costly</a:t>
                </a:r>
                <a:r>
                  <a:rPr dirty="0"/>
                  <a:t> storms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616" r="-1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Economic Panel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/>
          </a:p>
          <a:p>
            <a:r>
              <a:rPr dirty="0"/>
              <a:t>31 landfalling U.S. hurricanes, 2005–2022</a:t>
            </a:r>
            <a:endParaRPr lang="en-US" dirty="0"/>
          </a:p>
          <a:p>
            <a:endParaRPr dirty="0"/>
          </a:p>
          <a:p>
            <a:r>
              <a:rPr dirty="0"/>
              <a:t>NHC track/intensity forecasts paired with best track verification</a:t>
            </a:r>
            <a:endParaRPr lang="en-US" dirty="0"/>
          </a:p>
          <a:p>
            <a:endParaRPr dirty="0"/>
          </a:p>
          <a:p>
            <a:r>
              <a:rPr dirty="0"/>
              <a:t>County-level damages from SHELDUS and FEMA Public Assistance</a:t>
            </a:r>
            <a:endParaRPr lang="en-US" dirty="0"/>
          </a:p>
          <a:p>
            <a:endParaRPr dirty="0"/>
          </a:p>
          <a:p>
            <a:r>
              <a:rPr dirty="0"/>
              <a:t>Total damages: $3</a:t>
            </a:r>
            <a:r>
              <a:rPr lang="en-US" dirty="0"/>
              <a:t>00</a:t>
            </a:r>
            <a:r>
              <a:rPr dirty="0"/>
              <a:t> billion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 Denial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dirty="0"/>
              <a:t>8 U.S. landfalling hurricanes, 2017–2020</a:t>
            </a:r>
            <a:endParaRPr lang="en-US" dirty="0"/>
          </a:p>
          <a:p>
            <a:endParaRPr dirty="0"/>
          </a:p>
          <a:p>
            <a:r>
              <a:rPr dirty="0"/>
              <a:t>HWRF model run with </a:t>
            </a:r>
            <a:r>
              <a:rPr lang="en-US" dirty="0"/>
              <a:t>"</a:t>
            </a:r>
            <a:r>
              <a:rPr dirty="0"/>
              <a:t>ALL" observations vs "NO" dropsonde observations</a:t>
            </a:r>
            <a:endParaRPr lang="en-US" dirty="0"/>
          </a:p>
          <a:p>
            <a:pPr marL="0" indent="0">
              <a:buNone/>
            </a:pPr>
            <a:endParaRPr dirty="0"/>
          </a:p>
          <a:p>
            <a:r>
              <a:rPr dirty="0"/>
              <a:t>Provides ex-ante </a:t>
            </a:r>
            <a:r>
              <a:rPr lang="en-US" dirty="0"/>
              <a:t>uncertainty </a:t>
            </a:r>
            <a:r>
              <a:rPr dirty="0"/>
              <a:t>by county, storm, and lead time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B4A0B9D-3C62-B46C-C368-2ADDAF049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Ex-post analysis</a:t>
            </a:r>
          </a:p>
        </p:txBody>
      </p:sp>
      <p:pic>
        <p:nvPicPr>
          <p:cNvPr id="11" name="Content Placeholder 10" descr="Text&#10;&#10;AI-generated content may be incorrect.">
            <a:extLst>
              <a:ext uri="{FF2B5EF4-FFF2-40B4-BE49-F238E27FC236}">
                <a16:creationId xmlns:a16="http://schemas.microsoft.com/office/drawing/2014/main" id="{B82C533D-EDE4-EE16-A146-D8E07B4C76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9760" y="1690689"/>
            <a:ext cx="6924480" cy="5053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3975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Marginal Cost of Forecast Errors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</m:acc>
                      </m:e>
                      <m:sup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w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=5.16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dirty="0"/>
                  <a:t>million per unit increase in squared demeaned error</a:t>
                </a:r>
                <a:endParaRPr lang="en-US" dirty="0"/>
              </a:p>
              <a:p>
                <a:endParaRPr dirty="0"/>
              </a:p>
              <a:p>
                <a:r>
                  <a:rPr dirty="0"/>
                  <a:t>Effect is positive and significant only for hurricane-force winds (&gt; 33 m/s)</a:t>
                </a:r>
              </a:p>
              <a:p>
                <a:endParaRPr lang="en-US" dirty="0"/>
              </a:p>
              <a:p>
                <a:r>
                  <a:rPr dirty="0"/>
                  <a:t>Sub-hurricane force</a:t>
                </a:r>
                <a:r>
                  <a:rPr lang="en-US" dirty="0"/>
                  <a:t> estimates are</a:t>
                </a:r>
                <a:r>
                  <a:rPr dirty="0"/>
                  <a:t> small and statistically indistinguishable from zero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47" b="-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AO and ex-ante uncertainty</a:t>
            </a:r>
            <a:endParaRPr dirty="0"/>
          </a:p>
        </p:txBody>
      </p:sp>
      <p:pic>
        <p:nvPicPr>
          <p:cNvPr id="3" name="Picture 2" descr="augmented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405" y="1488558"/>
            <a:ext cx="7095190" cy="473012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/>
              <a:t>Top row: forecast uncertainty by lead time. Bottom row: with vs. without AO (hurricane-force, &gt; 33 m/s).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Economic Value of </a:t>
            </a:r>
            <a:r>
              <a:rPr lang="en-US" dirty="0"/>
              <a:t>AO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Δ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4.67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AO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 5.16 × 4.67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dirty="0"/>
                  <a:t>$2</a:t>
                </a:r>
                <a:r>
                  <a:rPr lang="en-US" dirty="0"/>
                  <a:t>4M/</a:t>
                </a:r>
                <a:r>
                  <a:rPr dirty="0"/>
                  <a:t>county</a:t>
                </a:r>
                <a:r>
                  <a:rPr lang="en-US" dirty="0"/>
                  <a:t>/</a:t>
                </a:r>
                <a:r>
                  <a:rPr dirty="0"/>
                  <a:t>per storm</a:t>
                </a:r>
              </a:p>
              <a:p>
                <a:endParaRPr lang="en-US" dirty="0"/>
              </a:p>
              <a:p>
                <a:r>
                  <a:rPr dirty="0"/>
                  <a:t>124 counties predicted hurricane-force exposure in 2017–2020 sample</a:t>
                </a:r>
              </a:p>
              <a:p>
                <a:endParaRPr lang="en-US" dirty="0"/>
              </a:p>
              <a:p>
                <a:r>
                  <a:rPr dirty="0"/>
                  <a:t>Total retrospective </a:t>
                </a:r>
                <a:r>
                  <a:rPr lang="en-US" dirty="0"/>
                  <a:t>value</a:t>
                </a:r>
                <a:r>
                  <a:rPr dirty="0"/>
                  <a:t> $3</a:t>
                </a:r>
                <a:r>
                  <a:rPr lang="en-US" dirty="0"/>
                  <a:t>B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47" r="-1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Cost-Benefit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/>
          </a:p>
          <a:p>
            <a:r>
              <a:rPr dirty="0"/>
              <a:t>Intensive deployment: 10 missions per storm </a:t>
            </a:r>
            <a:r>
              <a:rPr lang="en-US" dirty="0"/>
              <a:t>with cost ranging</a:t>
            </a:r>
            <a:r>
              <a:rPr dirty="0"/>
              <a:t> $0.5–0.6</a:t>
            </a:r>
            <a:r>
              <a:rPr lang="en-US" dirty="0"/>
              <a:t>M</a:t>
            </a:r>
            <a:endParaRPr dirty="0"/>
          </a:p>
          <a:p>
            <a:endParaRPr lang="en-US" dirty="0"/>
          </a:p>
          <a:p>
            <a:r>
              <a:rPr dirty="0"/>
              <a:t>Benefit per hurricane-force county: $2</a:t>
            </a:r>
            <a:r>
              <a:rPr lang="en-US" dirty="0"/>
              <a:t>4M</a:t>
            </a:r>
            <a:endParaRPr dirty="0"/>
          </a:p>
          <a:p>
            <a:endParaRPr lang="en-US" dirty="0"/>
          </a:p>
          <a:p>
            <a:r>
              <a:rPr dirty="0"/>
              <a:t>Benefit-to-cost ratio: &gt; 50:1</a:t>
            </a:r>
          </a:p>
          <a:p>
            <a:endParaRPr lang="en-US" dirty="0"/>
          </a:p>
          <a:p>
            <a:r>
              <a:rPr dirty="0"/>
              <a:t>Social value from a few seasons likely exceeds full cost of fleet recapitalization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699C1-86A1-0BFD-8DC6-9B6B69B94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 Recs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CA4F6-5BE7-8250-4087-2427659F06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Institutionalize routine data-denial studies for all U.S. landfalling hurricanes</a:t>
            </a:r>
          </a:p>
          <a:p>
            <a:endParaRPr lang="en-US" dirty="0"/>
          </a:p>
          <a:p>
            <a:r>
              <a:rPr lang="en-US" dirty="0"/>
              <a:t>Standardize performance metrics to report ex-ante forecast variance reduction alongside traditional ex-post error tracks</a:t>
            </a:r>
          </a:p>
          <a:p>
            <a:endParaRPr lang="en-US" dirty="0"/>
          </a:p>
          <a:p>
            <a:r>
              <a:rPr lang="en-US" dirty="0"/>
              <a:t>Unify economic benefit analysis using the structural loss-function methodology</a:t>
            </a:r>
          </a:p>
          <a:p>
            <a:endParaRPr lang="en-US" dirty="0"/>
          </a:p>
          <a:p>
            <a:r>
              <a:rPr lang="en-US" dirty="0"/>
              <a:t>Create a biennial "Socio-Economic Impact Report" for the reconnaissance program to inform Congress, FEMA, and the meteorological community</a:t>
            </a:r>
          </a:p>
        </p:txBody>
      </p:sp>
    </p:spTree>
    <p:extLst>
      <p:ext uri="{BB962C8B-B14F-4D97-AF65-F5344CB8AC3E}">
        <p14:creationId xmlns:p14="http://schemas.microsoft.com/office/powerpoint/2010/main" val="42627880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dirty="0"/>
              <a:t>AO </a:t>
            </a:r>
            <a:r>
              <a:rPr lang="en-US" dirty="0"/>
              <a:t>systematically improve the forecast quality</a:t>
            </a:r>
          </a:p>
          <a:p>
            <a:endParaRPr dirty="0"/>
          </a:p>
          <a:p>
            <a:r>
              <a:rPr lang="en-US" dirty="0"/>
              <a:t>These improvements have valuable implications in terms of avoided hurricane costs </a:t>
            </a:r>
            <a:endParaRPr dirty="0"/>
          </a:p>
          <a:p>
            <a:endParaRPr lang="en-US" dirty="0"/>
          </a:p>
          <a:p>
            <a:r>
              <a:rPr dirty="0"/>
              <a:t>Benefit-to-cost ratio </a:t>
            </a:r>
            <a:r>
              <a:rPr lang="en-US" dirty="0"/>
              <a:t>far exceeds the operational cost of the airborne mission</a:t>
            </a:r>
            <a:endParaRPr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5362</TotalTime>
  <Words>541</Words>
  <Application>Microsoft Macintosh PowerPoint</Application>
  <PresentationFormat>On-screen Show (4:3)</PresentationFormat>
  <Paragraphs>102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Office Theme</vt:lpstr>
      <vt:lpstr>The Socio-Economic Benefits of Augmented Observations for Hurricane Forecasting</vt:lpstr>
      <vt:lpstr>Methods</vt:lpstr>
      <vt:lpstr>Three-Stage Approach</vt:lpstr>
      <vt:lpstr>Stage 1: Marginal Cost of Forecast Errors</vt:lpstr>
      <vt:lpstr>Stage 2: AO and Forecast Precision</vt:lpstr>
      <vt:lpstr>Stage 3: Projecting Economic Gains</vt:lpstr>
      <vt:lpstr>Data</vt:lpstr>
      <vt:lpstr>Economic Panel</vt:lpstr>
      <vt:lpstr>Data Denial</vt:lpstr>
      <vt:lpstr>Results</vt:lpstr>
      <vt:lpstr>Ex-post analysis</vt:lpstr>
      <vt:lpstr>Marginal Cost of Forecast Errors</vt:lpstr>
      <vt:lpstr>AO and ex-ante uncertainty</vt:lpstr>
      <vt:lpstr>Economic Value of AO</vt:lpstr>
      <vt:lpstr>Cost-Benefit Analysis</vt:lpstr>
      <vt:lpstr>Policy Recs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Analysis for Environmental Policy MES 624</dc:title>
  <dc:creator>Renato Molina</dc:creator>
  <cp:lastModifiedBy>Renato Molina</cp:lastModifiedBy>
  <cp:revision>90</cp:revision>
  <cp:lastPrinted>2025-08-11T18:35:25Z</cp:lastPrinted>
  <dcterms:created xsi:type="dcterms:W3CDTF">2019-05-23T13:49:11Z</dcterms:created>
  <dcterms:modified xsi:type="dcterms:W3CDTF">2026-03-12T21:19:58Z</dcterms:modified>
</cp:coreProperties>
</file>